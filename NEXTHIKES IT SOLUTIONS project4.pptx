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9" r:id="rId4"/>
    <p:sldId id="260" r:id="rId5"/>
    <p:sldId id="265" r:id="rId6"/>
    <p:sldId id="262" r:id="rId7"/>
    <p:sldId id="266" r:id="rId8"/>
    <p:sldId id="263" r:id="rId9"/>
    <p:sldId id="264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5" d="100"/>
          <a:sy n="85" d="100"/>
        </p:scale>
        <p:origin x="5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1D63B-EA35-47E4-A1CB-3561F4C27A1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A2F66-F44D-448F-A8BB-9C78D49B8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8492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1D63B-EA35-47E4-A1CB-3561F4C27A1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A2F66-F44D-448F-A8BB-9C78D49B8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372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1D63B-EA35-47E4-A1CB-3561F4C27A1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A2F66-F44D-448F-A8BB-9C78D49B8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1367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1D63B-EA35-47E4-A1CB-3561F4C27A1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A2F66-F44D-448F-A8BB-9C78D49B8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29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1D63B-EA35-47E4-A1CB-3561F4C27A1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A2F66-F44D-448F-A8BB-9C78D49B8EFF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871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1D63B-EA35-47E4-A1CB-3561F4C27A1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A2F66-F44D-448F-A8BB-9C78D49B8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311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1D63B-EA35-47E4-A1CB-3561F4C27A1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A2F66-F44D-448F-A8BB-9C78D49B8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351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1D63B-EA35-47E4-A1CB-3561F4C27A1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A2F66-F44D-448F-A8BB-9C78D49B8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401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1A1D63B-EA35-47E4-A1CB-3561F4C27A1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A2F66-F44D-448F-A8BB-9C78D49B8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312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1D63B-EA35-47E4-A1CB-3561F4C27A1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A2F66-F44D-448F-A8BB-9C78D49B8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977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1D63B-EA35-47E4-A1CB-3561F4C27A1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A2F66-F44D-448F-A8BB-9C78D49B8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552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1A1D63B-EA35-47E4-A1CB-3561F4C27A1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3CBA2F66-F44D-448F-A8BB-9C78D49B8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945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3CFF2-FF09-A173-1A64-A8FCBD928F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249" y="642785"/>
            <a:ext cx="8991600" cy="1645920"/>
          </a:xfrm>
        </p:spPr>
        <p:txBody>
          <a:bodyPr/>
          <a:lstStyle/>
          <a:p>
            <a:r>
              <a:rPr lang="en-IN" dirty="0"/>
              <a:t>NEXTHIKES IT SOLUTIONS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109043-4894-1F32-6AF8-B3530F59D0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2873" y="2818614"/>
            <a:ext cx="8991599" cy="2773824"/>
          </a:xfrm>
        </p:spPr>
        <p:txBody>
          <a:bodyPr>
            <a:normAutofit lnSpcReduction="10000"/>
          </a:bodyPr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PROJECT-</a:t>
            </a:r>
          </a:p>
          <a:p>
            <a:r>
              <a:rPr lang="en-IN" dirty="0"/>
              <a:t> </a:t>
            </a: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EXTRACTION AND PRICE PREDICTION</a:t>
            </a: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MOBILE PHONES</a:t>
            </a: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BY- SAKSHI JAISWAL</a:t>
            </a:r>
          </a:p>
        </p:txBody>
      </p:sp>
    </p:spTree>
    <p:extLst>
      <p:ext uri="{BB962C8B-B14F-4D97-AF65-F5344CB8AC3E}">
        <p14:creationId xmlns:p14="http://schemas.microsoft.com/office/powerpoint/2010/main" val="2875051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33FE1-764B-688F-8165-B47FEAFE7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1D47B-A507-C736-C1D3-62A5EFD87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rows- 541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features-12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variable- Price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Contains both numerical and categorical features describing mobile specifications</a:t>
            </a:r>
          </a:p>
        </p:txBody>
      </p:sp>
    </p:spTree>
    <p:extLst>
      <p:ext uri="{BB962C8B-B14F-4D97-AF65-F5344CB8AC3E}">
        <p14:creationId xmlns:p14="http://schemas.microsoft.com/office/powerpoint/2010/main" val="2411806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4C01D-974C-E861-81D2-2E4254349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13E9F-C246-4C38-C9DE-BC6976A49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 unnecessary columns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Fix column names- Prize: Price, Battery_: Battery, Processor_: Processor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 comma from price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 camera columns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 numeric columns properly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 outliers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Encode categorical values using label encoding</a:t>
            </a:r>
          </a:p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51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756F6-B240-FC4E-92FF-A81A54B22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35774"/>
            <a:ext cx="7729728" cy="944791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EXTRACTION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079B0D-ABA3-7F7B-4474-3E77790085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327" y="1564341"/>
            <a:ext cx="4599168" cy="258183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D7D204-277B-9967-CC3C-B105D4C41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376" y="1622610"/>
            <a:ext cx="4948793" cy="24473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B511D6-109B-098A-8C16-20EBE8E462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39" y="4329954"/>
            <a:ext cx="4805356" cy="22949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B30650-1267-2F5B-1E8C-006FCA1E92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376" y="4329954"/>
            <a:ext cx="5074024" cy="2294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472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88463F-38CB-58B5-5352-139D66A558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431" y="488392"/>
            <a:ext cx="4939664" cy="256857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E4D23B-5753-1BFF-6B9F-3B8F75B0D4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3907" y="488391"/>
            <a:ext cx="5486399" cy="25685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0A80EB-7F42-2A37-AAA9-C1BF78184A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431" y="3290046"/>
            <a:ext cx="5145851" cy="33169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FEB29E-344D-A0D9-A7E3-D0A29C993E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340" y="3290046"/>
            <a:ext cx="5342965" cy="320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425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DC6F4-56A4-025E-4BA6-2DB3BBCD1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383" y="523613"/>
            <a:ext cx="7729728" cy="95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BUILDING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4FDED-D331-1AC7-A108-C7D10BA1E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8382" y="1739153"/>
            <a:ext cx="7792481" cy="4000875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AutoNum type="arabicPeriod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&amp; Target Split</a:t>
            </a:r>
          </a:p>
          <a:p>
            <a:pPr marL="0" indent="0">
              <a:buNone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Target variable : Price</a:t>
            </a:r>
          </a:p>
          <a:p>
            <a:pPr marL="0" indent="0">
              <a:buNone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Remove unnecessary columns and handled categorical variables</a:t>
            </a:r>
          </a:p>
          <a:p>
            <a:pPr marL="457200" indent="-457200">
              <a:buAutoNum type="arabicPeriod" startAt="2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Train- Test Split</a:t>
            </a:r>
          </a:p>
          <a:p>
            <a:pPr marL="0" indent="0">
              <a:buNone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80% training data</a:t>
            </a:r>
          </a:p>
          <a:p>
            <a:pPr marL="0" indent="0">
              <a:buNone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20% Testing data</a:t>
            </a:r>
          </a:p>
          <a:p>
            <a:pPr marL="0" indent="0">
              <a:buNone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Random state= 42 (for reproducibility)</a:t>
            </a:r>
          </a:p>
          <a:p>
            <a:pPr marL="457200" indent="-457200">
              <a:buAutoNum type="arabicPeriod" startAt="3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Selection</a:t>
            </a:r>
          </a:p>
          <a:p>
            <a:pPr marL="0" indent="0">
              <a:buNone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Random Forest – handles complex relationships</a:t>
            </a:r>
          </a:p>
          <a:p>
            <a:pPr marL="0" indent="0">
              <a:buNone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- reduces overfitting</a:t>
            </a:r>
          </a:p>
          <a:p>
            <a:pPr marL="0" indent="0">
              <a:buNone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- provides feature importance</a:t>
            </a:r>
          </a:p>
          <a:p>
            <a:pPr marL="0" indent="0">
              <a:buNone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- works well with mixed feature types</a:t>
            </a:r>
          </a:p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390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B871E-8EBE-4AF9-F097-0E997F337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44642-608E-7685-C466-9CDFF9FC1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PERFORMANCE ANALYSIS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explains 92.5% of price variation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MAE &amp; RMSE indicates strong predictive accuracy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Forest significantly outperformed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710434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6687B-B874-1F45-70C2-2E9618B61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383" y="319233"/>
            <a:ext cx="7729728" cy="798739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FDFB4-924D-6D5B-C97C-029CB5703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788" y="1425388"/>
            <a:ext cx="9145076" cy="431464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FEATURES:                       </a:t>
            </a:r>
          </a:p>
          <a:p>
            <a:r>
              <a:rPr lang="en-US" b="1" dirty="0"/>
              <a:t>Front Camera</a:t>
            </a:r>
            <a:r>
              <a:rPr lang="en-US" dirty="0"/>
              <a:t> stands out as by far the most important</a:t>
            </a:r>
          </a:p>
          <a:p>
            <a:pPr marL="0" indent="0">
              <a:buNone/>
            </a:pPr>
            <a:r>
              <a:rPr lang="en-US" dirty="0"/>
              <a:t> feature, indicating that its specifications are a primary driver of mobile phone price.</a:t>
            </a:r>
          </a:p>
          <a:p>
            <a:r>
              <a:rPr lang="en-US" b="1" dirty="0"/>
              <a:t>Battery, Memory, and Processor</a:t>
            </a:r>
            <a:r>
              <a:rPr lang="en-US" dirty="0"/>
              <a:t> follow as the next most significant factors, suggesting that better specifications in these areas notably increase a device's value.</a:t>
            </a:r>
          </a:p>
          <a:p>
            <a:r>
              <a:rPr lang="en-US" b="1" dirty="0"/>
              <a:t>Model, Rear Camera, RAM, and Mobile Height</a:t>
            </a:r>
            <a:r>
              <a:rPr lang="en-US" dirty="0"/>
              <a:t> have a moderate level of importance, contributing to the price but to a lesser degree than the top features.</a:t>
            </a:r>
          </a:p>
          <a:p>
            <a:r>
              <a:rPr lang="en-US" b="1" dirty="0" err="1"/>
              <a:t>Colour</a:t>
            </a:r>
            <a:r>
              <a:rPr lang="en-US" b="1" dirty="0"/>
              <a:t> and AI Lens</a:t>
            </a:r>
            <a:r>
              <a:rPr lang="en-US" dirty="0"/>
              <a:t> show very low, almost negligible importance, implying that these attributes have minimal impact on the overall price prediction by the model.</a:t>
            </a:r>
          </a:p>
          <a:p>
            <a:pPr marL="0" indent="0">
              <a:buNone/>
            </a:pP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BD3CE5-EF41-D062-F60C-85D8DB192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87" y="1255060"/>
            <a:ext cx="4930588" cy="18825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5FB79E-ACE1-9B72-3C9F-3B7E1B4D95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3247" y="1255060"/>
            <a:ext cx="4634753" cy="251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867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F4B19-E027-F15B-4A7A-43747773E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311F6-7922-36D9-58DD-A8960E868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explains 92% of price variation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MAE and RMSE indicate high accuracy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price influencing factors- front camera, battery,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memory,processor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 influenced the most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212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21457-0505-4F98-4D36-3E2203DA0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70847"/>
            <a:ext cx="7729728" cy="2492187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5277253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10069</TotalTime>
  <Words>321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Gill Sans MT</vt:lpstr>
      <vt:lpstr>Parcel</vt:lpstr>
      <vt:lpstr>NEXTHIKES IT SOLUTIONS</vt:lpstr>
      <vt:lpstr>DATASET OVERVIEW</vt:lpstr>
      <vt:lpstr>DATA PREPROCESSING</vt:lpstr>
      <vt:lpstr>FEATURE EXTRACTION</vt:lpstr>
      <vt:lpstr>PowerPoint Presentation</vt:lpstr>
      <vt:lpstr>MODEL BUILDING</vt:lpstr>
      <vt:lpstr>MODEL EVALUATION</vt:lpstr>
      <vt:lpstr>FEATURE IMPORTANCE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Sakshi Jaiswal</dc:creator>
  <cp:lastModifiedBy>Sakshi Jaiswal</cp:lastModifiedBy>
  <cp:revision>6</cp:revision>
  <dcterms:created xsi:type="dcterms:W3CDTF">2026-02-24T06:39:17Z</dcterms:created>
  <dcterms:modified xsi:type="dcterms:W3CDTF">2026-03-03T06:28:19Z</dcterms:modified>
</cp:coreProperties>
</file>